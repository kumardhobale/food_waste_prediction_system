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5" r:id="rId4"/>
  </p:sldMasterIdLst>
  <p:notesMasterIdLst>
    <p:notesMasterId r:id="rId18"/>
  </p:notesMasterIdLst>
  <p:sldIdLst>
    <p:sldId id="1300" r:id="rId5"/>
    <p:sldId id="1349" r:id="rId6"/>
    <p:sldId id="1291" r:id="rId7"/>
    <p:sldId id="1350" r:id="rId8"/>
    <p:sldId id="1351" r:id="rId9"/>
    <p:sldId id="1352" r:id="rId10"/>
    <p:sldId id="1353" r:id="rId11"/>
    <p:sldId id="1358" r:id="rId12"/>
    <p:sldId id="1354" r:id="rId13"/>
    <p:sldId id="1355" r:id="rId14"/>
    <p:sldId id="1356" r:id="rId15"/>
    <p:sldId id="1359" r:id="rId16"/>
    <p:sldId id="1250" r:id="rId17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192" userDrawn="1">
          <p15:clr>
            <a:srgbClr val="A4A3A4"/>
          </p15:clr>
        </p15:guide>
        <p15:guide id="3" orient="horz" pos="1080" userDrawn="1">
          <p15:clr>
            <a:srgbClr val="A4A3A4"/>
          </p15:clr>
        </p15:guide>
      </p15:sldGuideLst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xmlns="" r:id="rId220" roundtripDataSignature="AMtx7miWNY2LB4ETJwrL8F0N+EK9hEhq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EFF"/>
    <a:srgbClr val="F9FFEB"/>
    <a:srgbClr val="EDFFC5"/>
    <a:srgbClr val="7FBA00"/>
    <a:srgbClr val="EBEEF9"/>
    <a:srgbClr val="213164"/>
    <a:srgbClr val="FED500"/>
    <a:srgbClr val="484F9E"/>
    <a:srgbClr val="F6AB1B"/>
    <a:srgbClr val="F7BA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5EB630-E21A-4BB2-BE55-F314667820FB}" v="14" dt="2026-01-14T09:22:34.7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1482"/>
  </p:normalViewPr>
  <p:slideViewPr>
    <p:cSldViewPr snapToGrid="0">
      <p:cViewPr varScale="1">
        <p:scale>
          <a:sx n="75" d="100"/>
          <a:sy n="75" d="100"/>
        </p:scale>
        <p:origin x="946" y="62"/>
      </p:cViewPr>
      <p:guideLst>
        <p:guide orient="horz" pos="792"/>
        <p:guide pos="192"/>
        <p:guide orient="horz" pos="10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22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26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2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20" Type="http://customschemas.google.com/relationships/presentationmetadata" Target="metadata"/><Relationship Id="rId22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22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mar Dhobale" userId="88cf7e8cdccd29d8" providerId="LiveId" clId="{7D54C613-B645-4F65-B2F8-8DA52939A8BE}"/>
    <pc:docChg chg="custSel addSld modSld sldOrd">
      <pc:chgData name="Kumar Dhobale" userId="88cf7e8cdccd29d8" providerId="LiveId" clId="{7D54C613-B645-4F65-B2F8-8DA52939A8BE}" dt="2026-01-14T09:22:36.139" v="114" actId="20577"/>
      <pc:docMkLst>
        <pc:docMk/>
      </pc:docMkLst>
      <pc:sldChg chg="ord">
        <pc:chgData name="Kumar Dhobale" userId="88cf7e8cdccd29d8" providerId="LiveId" clId="{7D54C613-B645-4F65-B2F8-8DA52939A8BE}" dt="2026-01-14T06:23:56.966" v="21"/>
        <pc:sldMkLst>
          <pc:docMk/>
          <pc:sldMk cId="3544365122" sldId="1250"/>
        </pc:sldMkLst>
      </pc:sldChg>
      <pc:sldChg chg="modSp mod">
        <pc:chgData name="Kumar Dhobale" userId="88cf7e8cdccd29d8" providerId="LiveId" clId="{7D54C613-B645-4F65-B2F8-8DA52939A8BE}" dt="2026-01-14T06:22:44.638" v="19" actId="20577"/>
        <pc:sldMkLst>
          <pc:docMk/>
          <pc:sldMk cId="2000950779" sldId="1300"/>
        </pc:sldMkLst>
        <pc:spChg chg="mod">
          <ac:chgData name="Kumar Dhobale" userId="88cf7e8cdccd29d8" providerId="LiveId" clId="{7D54C613-B645-4F65-B2F8-8DA52939A8BE}" dt="2026-01-14T06:22:44.638" v="19" actId="20577"/>
          <ac:spMkLst>
            <pc:docMk/>
            <pc:sldMk cId="2000950779" sldId="1300"/>
            <ac:spMk id="2" creationId="{7BC3452E-282B-E1CE-1049-3451E4122F16}"/>
          </ac:spMkLst>
        </pc:spChg>
      </pc:sldChg>
      <pc:sldChg chg="addSp modSp add mod ord">
        <pc:chgData name="Kumar Dhobale" userId="88cf7e8cdccd29d8" providerId="LiveId" clId="{7D54C613-B645-4F65-B2F8-8DA52939A8BE}" dt="2026-01-14T09:22:36.139" v="114" actId="20577"/>
        <pc:sldMkLst>
          <pc:docMk/>
          <pc:sldMk cId="1984430202" sldId="1359"/>
        </pc:sldMkLst>
        <pc:spChg chg="add mod">
          <ac:chgData name="Kumar Dhobale" userId="88cf7e8cdccd29d8" providerId="LiveId" clId="{7D54C613-B645-4F65-B2F8-8DA52939A8BE}" dt="2026-01-14T09:22:36.139" v="114" actId="20577"/>
          <ac:spMkLst>
            <pc:docMk/>
            <pc:sldMk cId="1984430202" sldId="1359"/>
            <ac:spMk id="2" creationId="{6A891580-4C2D-C23D-EF44-BBE218897246}"/>
          </ac:spMkLst>
        </pc:spChg>
        <pc:spChg chg="mod">
          <ac:chgData name="Kumar Dhobale" userId="88cf7e8cdccd29d8" providerId="LiveId" clId="{7D54C613-B645-4F65-B2F8-8DA52939A8BE}" dt="2026-01-14T06:24:15.829" v="28" actId="20577"/>
          <ac:spMkLst>
            <pc:docMk/>
            <pc:sldMk cId="1984430202" sldId="1359"/>
            <ac:spMk id="3" creationId="{4DC7B192-5E72-4EB3-30AF-6D473E03BE3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08025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023E65BA-FB28-47C4-A217-44F00343302E}" type="slidenum">
              <a:rPr lang="en-US" sz="1400" b="0" strike="noStrike" spc="-1">
                <a:latin typeface="Times New Roman"/>
              </a:rPr>
              <a:t>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9783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CD97FCEE-C2A8-37D5-A996-49BB545B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975B8980-94AA-8A6F-430D-0494B7C176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6A7D6731-161F-2215-BDD4-38D7B762C4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442112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11089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CB634D27-F068-EBEB-8770-15B1970FD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3EC7E5E5-08B1-E327-1392-BDBF845246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962BD9A5-ADCC-1A80-1BEB-CABC569E0A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7319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CC7FEBF0-06E5-C2B8-032E-BD1140EC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1C6BB7A9-64CC-4552-CA05-10714EF8D5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696E12A9-0FB9-1C33-EAD4-8BC34D67D7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801004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9912BB92-19C5-FEAF-8CF0-0A26FF157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D21BCEAF-EE14-3457-B94E-B4E055AD9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Lack of Data-Driven Planning: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Currently, food preparation in canteens and hostels relies on manual guesswork and intuition rather than historical attendance data.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Significant Food Wastage: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Inaccurate estimation of student attendance leads to massive quantities of prepared food being discarded daily.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Financial &amp; Resource Inefficiency: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Every kilogram of wasted food represents a direct loss in raw material costs, labor energy, and LPG/fuel consumption.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Environmental Impact: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Organic waste in landfills is a major contributor to Methane ($CH_4$) emissions, significantly increasing the institution's carbon footprint.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Unpredictable Variability: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Traditional systems fail to account for variables like "Special Menus" or "Weekend Attendance," which drastically change food consumption patterns.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E33C037B-43A5-DBE4-60BB-7D8372DCD2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46139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05ABAFC-C9BD-AB1E-8A8A-9EDC55689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3CC989CB-9A3F-2F71-382B-9645325FE3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1EAE55A1-FB6B-6141-FCEA-50C1C0732E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474414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E97757C-C9C8-D062-5A0A-E627466A2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5EFC4385-9F62-DE91-1C49-25EFFAA507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3177FAE6-75CC-FEF9-3CAC-8FE5239D67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7390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4F84F44-6F11-41C0-2531-B2D84004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CFFEF418-B406-D0A7-8310-136EE4643B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C7A9698E-E051-C03D-505A-30B549F0D0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60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2949AFF-78D6-50DA-B607-940763F2C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7361DAE3-574F-2869-A475-53A418F0F3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4598F59E-E26E-B08C-63A5-3796B2189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340775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839BF32-23F1-0514-1672-5AE4AB500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EF06C08A-200A-0E8C-55D0-5D4BC07B5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C29C00B7-3928-D803-DCB2-F342254D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33277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9B9B5-22A9-C263-41F6-3D2401DA0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AA5D08-31A1-50CC-EB5F-D91525099A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DEDE9-F391-FA25-5314-8194B7B9A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spc="-5" dirty="0">
                <a:solidFill>
                  <a:srgbClr val="223366"/>
                </a:solidFill>
              </a:rPr>
              <a:t>Thank You !!</a:t>
            </a:r>
            <a:endParaRPr lang="en-US" sz="1100" b="1" spc="-5" dirty="0">
              <a:solidFill>
                <a:srgbClr val="2233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5121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spc="-5" dirty="0">
                <a:solidFill>
                  <a:srgbClr val="223366"/>
                </a:solidFill>
              </a:rPr>
              <a:t>Thank You !!</a:t>
            </a:r>
            <a:endParaRPr lang="en-US" sz="1100" b="1" spc="-5" dirty="0">
              <a:solidFill>
                <a:srgbClr val="2233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420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341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78783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187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8266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58C18A-94E2-AE13-8B06-BA9F6BD6D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8089E-5BFA-40F0-B876-ADFE03496B7F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E892B4-0FB0-425D-7C43-06BB328A9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29878-4D45-882F-621F-195E0CE49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3122C-94FD-45B7-812A-8C690DBDD3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9534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180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82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44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693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587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151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4195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8424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083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99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10;p4" descr="A close up of a sign&#10;&#10;Description automatically generated">
            <a:extLst>
              <a:ext uri="{FF2B5EF4-FFF2-40B4-BE49-F238E27FC236}">
                <a16:creationId xmlns:a16="http://schemas.microsoft.com/office/drawing/2014/main" id="{CE849A3B-BCF0-B774-F89E-81965C71F93E}"/>
              </a:ext>
            </a:extLst>
          </p:cNvPr>
          <p:cNvPicPr preferRelativeResize="0"/>
          <p:nvPr userDrawn="1"/>
        </p:nvPicPr>
        <p:blipFill rotWithShape="1">
          <a:blip r:embed="rId17">
            <a:alphaModFix/>
          </a:blip>
          <a:srcRect/>
          <a:stretch/>
        </p:blipFill>
        <p:spPr>
          <a:xfrm>
            <a:off x="10072688" y="78002"/>
            <a:ext cx="1800225" cy="5755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153E6A6-60E4-FE14-1CBC-8CC211274D1C}"/>
              </a:ext>
            </a:extLst>
          </p:cNvPr>
          <p:cNvSpPr/>
          <p:nvPr userDrawn="1"/>
        </p:nvSpPr>
        <p:spPr>
          <a:xfrm>
            <a:off x="1" y="0"/>
            <a:ext cx="9829800" cy="717630"/>
          </a:xfrm>
          <a:prstGeom prst="rect">
            <a:avLst/>
          </a:prstGeom>
          <a:solidFill>
            <a:srgbClr val="213264"/>
          </a:solidFill>
          <a:ln>
            <a:solidFill>
              <a:srgbClr val="2132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7CE881-772B-9023-3054-4B219B75D755}"/>
              </a:ext>
            </a:extLst>
          </p:cNvPr>
          <p:cNvSpPr/>
          <p:nvPr userDrawn="1"/>
        </p:nvSpPr>
        <p:spPr>
          <a:xfrm>
            <a:off x="9888967" y="-419"/>
            <a:ext cx="112283" cy="732357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1" name="Picture 30" descr="A blue and white background&#10;&#10;Description automatically generated with medium confidence">
            <a:extLst>
              <a:ext uri="{FF2B5EF4-FFF2-40B4-BE49-F238E27FC236}">
                <a16:creationId xmlns:a16="http://schemas.microsoft.com/office/drawing/2014/main" id="{16A7B69A-9B14-87FE-841D-37F0A91D14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>
            <a:alphaModFix amt="16000"/>
          </a:blip>
          <a:srcRect t="24724" r="1619" b="63695"/>
          <a:stretch/>
        </p:blipFill>
        <p:spPr>
          <a:xfrm>
            <a:off x="0" y="-1"/>
            <a:ext cx="9839325" cy="72390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7B91A16-5D54-2FC0-B0FD-A78085FC1313}"/>
              </a:ext>
            </a:extLst>
          </p:cNvPr>
          <p:cNvSpPr/>
          <p:nvPr userDrawn="1"/>
        </p:nvSpPr>
        <p:spPr>
          <a:xfrm>
            <a:off x="11925300" y="-419"/>
            <a:ext cx="266700" cy="732357"/>
          </a:xfrm>
          <a:prstGeom prst="rect">
            <a:avLst/>
          </a:prstGeom>
          <a:solidFill>
            <a:srgbClr val="FED5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7" r:id="rId1"/>
    <p:sldLayoutId id="2147483701" r:id="rId2"/>
    <p:sldLayoutId id="2147483714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y_L_MQaYD0TOKkmk2kSfs03j7Lj75kIz?usp=sharing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foodwastepredictionsystem-2i4fd6jmvau8kfo8ogprw5.streamlit.app/" TargetMode="External"/><Relationship Id="rId4" Type="http://schemas.openxmlformats.org/officeDocument/2006/relationships/hyperlink" Target="https://github.com/KumarDhobale/food_waste_prediction_system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erson sitting at a desk with a computer&#10;&#10;Description automatically generated">
            <a:extLst>
              <a:ext uri="{FF2B5EF4-FFF2-40B4-BE49-F238E27FC236}">
                <a16:creationId xmlns:a16="http://schemas.microsoft.com/office/drawing/2014/main" id="{02540B31-8123-24C6-B0F3-4444B51E94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B9AA95F-56F4-3F03-5804-8F7C6AFCE0BB}"/>
              </a:ext>
            </a:extLst>
          </p:cNvPr>
          <p:cNvSpPr/>
          <p:nvPr/>
        </p:nvSpPr>
        <p:spPr>
          <a:xfrm>
            <a:off x="8687544" y="584200"/>
            <a:ext cx="2110444" cy="977900"/>
          </a:xfrm>
          <a:prstGeom prst="roundRect">
            <a:avLst/>
          </a:prstGeom>
          <a:solidFill>
            <a:srgbClr val="EBEEF9"/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95316D-1E70-9E4D-C82D-DC6493EC4CED}"/>
              </a:ext>
            </a:extLst>
          </p:cNvPr>
          <p:cNvSpPr txBox="1"/>
          <p:nvPr/>
        </p:nvSpPr>
        <p:spPr>
          <a:xfrm>
            <a:off x="4093474" y="2008766"/>
            <a:ext cx="7280118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en-US" sz="4000" b="1" dirty="0">
                <a:solidFill>
                  <a:schemeClr val="bg1"/>
                </a:solidFill>
              </a:rPr>
              <a:t>Food Waste Prediction and Reduction System</a:t>
            </a:r>
            <a:endParaRPr lang="en-US" sz="4000" dirty="0">
              <a:solidFill>
                <a:schemeClr val="bg1"/>
              </a:solidFill>
            </a:endParaRPr>
          </a:p>
        </p:txBody>
      </p:sp>
      <p:pic>
        <p:nvPicPr>
          <p:cNvPr id="19" name="Picture 18" descr="A close up of a logo&#10;&#10;Description automatically generated">
            <a:extLst>
              <a:ext uri="{FF2B5EF4-FFF2-40B4-BE49-F238E27FC236}">
                <a16:creationId xmlns:a16="http://schemas.microsoft.com/office/drawing/2014/main" id="{2A27540A-9E08-71C9-C49B-6AA04DE6EB1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1943" y="867733"/>
            <a:ext cx="1263157" cy="4108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C3452E-282B-E1CE-1049-3451E4122F16}"/>
              </a:ext>
            </a:extLst>
          </p:cNvPr>
          <p:cNvSpPr txBox="1"/>
          <p:nvPr/>
        </p:nvSpPr>
        <p:spPr>
          <a:xfrm>
            <a:off x="4760259" y="3494967"/>
            <a:ext cx="6347011" cy="23856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Samarth </a:t>
            </a:r>
            <a:r>
              <a:rPr lang="en-IN" dirty="0" err="1">
                <a:solidFill>
                  <a:schemeClr val="bg1"/>
                </a:solidFill>
              </a:rPr>
              <a:t>Dhoble</a:t>
            </a:r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Kumar Dhobale</a:t>
            </a:r>
          </a:p>
          <a:p>
            <a:r>
              <a:rPr lang="en-IN" sz="1850" dirty="0">
                <a:solidFill>
                  <a:schemeClr val="bg1"/>
                </a:solidFill>
              </a:rPr>
              <a:t>Krushna Ashwi</a:t>
            </a:r>
          </a:p>
          <a:p>
            <a:endParaRPr lang="en-IN" sz="1850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                                                          </a:t>
            </a:r>
            <a:r>
              <a:rPr lang="en-IN" dirty="0" err="1">
                <a:solidFill>
                  <a:schemeClr val="bg1"/>
                </a:solidFill>
              </a:rPr>
              <a:t>K.Jeeva</a:t>
            </a:r>
            <a:endParaRPr lang="en-IN" dirty="0">
              <a:solidFill>
                <a:schemeClr val="bg1"/>
              </a:solidFill>
            </a:endParaRP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College Name -  K J College of Engineering and            Management Research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00950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982100C0-8C1F-4181-DD75-D87774F4B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5DF1CE7-F465-D81C-97B0-79E3F2480924}"/>
              </a:ext>
            </a:extLst>
          </p:cNvPr>
          <p:cNvCxnSpPr/>
          <p:nvPr/>
        </p:nvCxnSpPr>
        <p:spPr>
          <a:xfrm>
            <a:off x="0" y="6055360"/>
            <a:ext cx="121920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61;g5fab984687_2_0">
            <a:extLst>
              <a:ext uri="{FF2B5EF4-FFF2-40B4-BE49-F238E27FC236}">
                <a16:creationId xmlns:a16="http://schemas.microsoft.com/office/drawing/2014/main" id="{583006E0-F63C-4BA4-389D-C91A4075610B}"/>
              </a:ext>
            </a:extLst>
          </p:cNvPr>
          <p:cNvSpPr txBox="1">
            <a:spLocks noGrp="1"/>
          </p:cNvSpPr>
          <p:nvPr/>
        </p:nvSpPr>
        <p:spPr>
          <a:xfrm>
            <a:off x="407838" y="873305"/>
            <a:ext cx="5025142" cy="68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000" b="1">
                <a:solidFill>
                  <a:srgbClr val="213163"/>
                </a:solidFill>
              </a:rPr>
              <a:t>Project Objectives</a:t>
            </a:r>
            <a:endParaRPr lang="en-US" sz="2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4668EA-F609-4C8E-7E33-C8D4F3A31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265" y="1124611"/>
            <a:ext cx="4602826" cy="4613712"/>
          </a:xfrm>
          <a:prstGeom prst="rect">
            <a:avLst/>
          </a:prstGeom>
        </p:spPr>
      </p:pic>
      <p:sp>
        <p:nvSpPr>
          <p:cNvPr id="8" name="Google Shape;62;g5fab984687_2_0">
            <a:extLst>
              <a:ext uri="{FF2B5EF4-FFF2-40B4-BE49-F238E27FC236}">
                <a16:creationId xmlns:a16="http://schemas.microsoft.com/office/drawing/2014/main" id="{761FE11B-F08F-EA24-6ECA-6D0A1BF1E903}"/>
              </a:ext>
            </a:extLst>
          </p:cNvPr>
          <p:cNvSpPr txBox="1"/>
          <p:nvPr/>
        </p:nvSpPr>
        <p:spPr>
          <a:xfrm>
            <a:off x="407838" y="1715981"/>
            <a:ext cx="5369163" cy="3189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Problem Statement</a:t>
            </a:r>
            <a:endParaRPr lang="en-US" sz="1100" dirty="0"/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Project Overview – Introduction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End Users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Wow Factor in Project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Modelling/Block Diagram/Flow of Project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Result/outcomes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Conclusion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Future Perspective</a:t>
            </a:r>
          </a:p>
          <a:p>
            <a:pPr marL="182880" indent="-182880">
              <a:buFont typeface="Arial" panose="020B0604020202020204" pitchFamily="34" charset="0"/>
              <a:buChar char="•"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4426680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7AFAD5-578C-DC2D-F127-90FF4287354D}"/>
              </a:ext>
            </a:extLst>
          </p:cNvPr>
          <p:cNvSpPr txBox="1"/>
          <p:nvPr/>
        </p:nvSpPr>
        <p:spPr>
          <a:xfrm>
            <a:off x="202071" y="972537"/>
            <a:ext cx="1185725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Problem Statement</a:t>
            </a:r>
            <a:endParaRPr lang="en-US" sz="18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731192-E2E7-FC77-8DAA-2A61548E5CEA}"/>
              </a:ext>
            </a:extLst>
          </p:cNvPr>
          <p:cNvSpPr txBox="1"/>
          <p:nvPr/>
        </p:nvSpPr>
        <p:spPr>
          <a:xfrm>
            <a:off x="404037" y="1690577"/>
            <a:ext cx="1140873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Lack of Data-Driven Planning: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Currently, food preparation in canteens and hostels relies on manual guesswork and intuition rather than historical attendance data.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Significant Food Wastage: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Inaccurate estimation of student attendance leads to massive quantities of prepared food being discarded daily.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Financial &amp; Resource Inefficiency: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Every kilogram of wasted food represents a direct loss in raw material costs, labor energy, and LPG/fuel consumption.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Environmental Impact: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Organic waste in landfills is a major contributor to Methane ($CH_4$) emissions, significantly increasing the institution's carbon footprint.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Unpredictable Variability: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Traditional systems fail to account for variables like "Special Menus" or "Weekend Attendance," which drastically change food consumption patterns.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6043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6CFA96E3-C7EB-55DF-2AA8-2936B30AF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EBBBA-5CF4-5202-786C-054FC76F51FF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Project Overview - Introduction</a:t>
            </a:r>
            <a:endParaRPr lang="en-US" sz="18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15A85F-CB3C-FA95-6DA1-3E65127B676C}"/>
              </a:ext>
            </a:extLst>
          </p:cNvPr>
          <p:cNvSpPr txBox="1"/>
          <p:nvPr/>
        </p:nvSpPr>
        <p:spPr>
          <a:xfrm>
            <a:off x="446567" y="1679944"/>
            <a:ext cx="11376838" cy="3765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What is Eco-Feed AI?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It is an intelligent Decision Support System (DSS) designed to bridge the gap between food production and actual consumption.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Core Technology: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The system leverages 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Machine Learning (Random Forest Regression)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to analyze historical patterns like student attendance, day of the week, and menu complexity.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Smart Estimation: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Unlike simple averages, this system predicts "Expected Waste" first, then calculates the "Optimal Preparation Quantity" to ensure 100% student satisfaction with near-zero waste.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Key Goal: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To transform institutional canteens into 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"Smart Kitchens"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that are economically profitable and environmentally sustainable.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Integrated Dashboard: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Provides a user-friendly interface for kitchen managers to get instant cooking recommendations and track their "Sustainability Score."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4747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82ED5FB8-425A-4665-42F5-5CC706CCA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9B8291-8A2E-40AC-9C88-A70F47D7B60C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End Users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1323DD-053C-DD2A-DBDD-FC97D679E2D5}"/>
              </a:ext>
            </a:extLst>
          </p:cNvPr>
          <p:cNvSpPr txBox="1"/>
          <p:nvPr/>
        </p:nvSpPr>
        <p:spPr>
          <a:xfrm>
            <a:off x="414670" y="1786270"/>
            <a:ext cx="11281144" cy="3457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Canteen &amp; Hostel Managers: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The primary operators who use the dashboard to decide daily procurement and cooking quantities.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Kitchen Staff &amp; Head Chefs: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Receive precise "cooking targets" (in KGs) to reduce manual workload and prevent over-preparation.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Institutional Administrators: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High-level officials who monitor the "Financial Savings" and "Sustainability Reports" for the college or organization.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NGOs &amp; Food Recovery Networks: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Benefit from the system’s alerts when surplus food is predicted, allowing for timely donation and distribution.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Environmental Auditors: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Use the generated "CO₂ Reduction Reports" to track the institution's progress toward Green Campus goals.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4349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83201705-0A2B-4BCF-297B-D9722E1CC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5BFC9B-AE6E-0231-F153-9FA6A53336DE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Wow Factors in Project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56F3B7-AF9C-6059-4550-FE07CDFEC777}"/>
              </a:ext>
            </a:extLst>
          </p:cNvPr>
          <p:cNvSpPr txBox="1"/>
          <p:nvPr/>
        </p:nvSpPr>
        <p:spPr>
          <a:xfrm>
            <a:off x="404037" y="1775637"/>
            <a:ext cx="11355572" cy="3765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Self-Correcting "Safety Buffer" Logic: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The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system doesn't just predict the minimum; it includes a smart margin to ensure food never runs out, balancing "Zero Waste" with "Zero Hunger."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Multi-Factor Correlation: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Unlike human estimation, the AI simultaneously analyzes the relationship between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Day + Attendance + Menu Type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to find hidden patterns (e.g., "Special menus on Fridays waste 15% more than Tuesdays").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Environmental Impact Quantification: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Converts wasted kilograms into real-world environmental data, calculating the exact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Carbon Footprint ($CO_2$) reduction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achieved by the institution.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Financial Intelligence: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Provides a real-time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Cost-Benefit Analysis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, showing the kitchen manager exactly how much money was saved per day by following the AI's advice.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Actionable Business Intelligence: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Instead of complex graphs, the UI provides a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"Direct Command"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(e.g., "Cook exactly 182.5 KG"), making it usable for staff with no technical background.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7326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2DA83078-77BF-8732-F35D-B5E0418E3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43A1D2-BA94-C28C-CC33-20F2A8CBF8E6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Modelling/Block Diagram/Flow of Project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66106D-F6D7-20A5-D6D1-002A6521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67" y="1650402"/>
            <a:ext cx="97536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416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E99CD92D-A575-8307-4352-F0BA81EB2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FF50A4-5ED8-3FB1-7BC6-C928C539FDC4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Technology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8DFA8-84C5-640B-748F-135F60FC9525}"/>
              </a:ext>
            </a:extLst>
          </p:cNvPr>
          <p:cNvSpPr txBox="1"/>
          <p:nvPr/>
        </p:nvSpPr>
        <p:spPr>
          <a:xfrm>
            <a:off x="404037" y="1733107"/>
            <a:ext cx="11504428" cy="4688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Programming Language: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* 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Python: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The core language used for data processing and machine learning logic.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Libraries &amp; Frameworks: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Streamlit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Used for building the interactive web-based dashboard and user interface.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Scikit-Learn: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Employed for implementing the 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Random Forest Regressor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model and data encoding.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Pandas &amp; NumPy: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Essential for data manipulation, cleaning, and numerical operations.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Data Visualization: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Plotly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 Express: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Used to create dynamic, interactive charts (Daily trends, Waste analysis).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Data Storage: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CSV (Comma Separated Values):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Used as a lightweight database for storing historical food records (</a:t>
            </a:r>
            <a:r>
              <a:rPr lang="en-US" altLang="en-US" sz="1050" dirty="0">
                <a:solidFill>
                  <a:schemeClr val="tx1"/>
                </a:solidFill>
                <a:latin typeface="Arial Unicode MS"/>
              </a:rPr>
              <a:t>food_data.csv</a:t>
            </a:r>
            <a:r>
              <a:rPr lang="en-US" altLang="en-US" sz="900" dirty="0">
                <a:solidFill>
                  <a:schemeClr val="tx1"/>
                </a:solidFill>
              </a:rPr>
              <a:t>).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Development Environment: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VS Code / </a:t>
            </a:r>
            <a:r>
              <a:rPr lang="en-US" alt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Jupyter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 Notebook: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For code development and model testing.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85668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F514D052-F397-BC36-1052-36D19CF59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5B80B1-3B59-EA2F-68D8-475020EC920F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Result/Outcomes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8F75C9-C30B-ECDA-7913-99735A50B01D}"/>
              </a:ext>
            </a:extLst>
          </p:cNvPr>
          <p:cNvSpPr txBox="1"/>
          <p:nvPr/>
        </p:nvSpPr>
        <p:spPr>
          <a:xfrm>
            <a:off x="404037" y="1743740"/>
            <a:ext cx="1135557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Optimized Resource Allocation: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The system successfully transitions canteen operations from "Intuition-based cooking" to "Data-driven preparation," ensuring food meets actual demand.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Significant Waste Reduction: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By using the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Random Forest Regressor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, the model identifies patterns in student attendance, leading to an estimated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15-20% reduction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in daily food waste.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Financial Sustainability: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Predicts cost savings by calculating the price of saved raw materials (e.g., ₹50-₹150 per kg), directly improving the canteen's bottom line.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Environmental Impact: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Every kilogram of food saved prevents approximately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2.5kg of $CO_2$ emissions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, helping the institution meet its green campus goals.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Enhanced Decision Support: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Provides canteen managers with a "Safety Buffer" recommendation, balancing the goal of zero waste with the necessity of ensuring no student goes hungry.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NGO Integration Readiness: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The system generates data that can be used to alert local food recovery networks when a surplus is unavoidable, ensuring social responsibility.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1153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2F31CEF-5515-4F5D-1100-281FEB2D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7B0A38-E51F-FAB3-43A3-E6F66F53FEEB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Conclusion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EF9D0C-FFBF-9EDC-DB2D-3537682FA991}"/>
              </a:ext>
            </a:extLst>
          </p:cNvPr>
          <p:cNvSpPr txBox="1"/>
          <p:nvPr/>
        </p:nvSpPr>
        <p:spPr>
          <a:xfrm>
            <a:off x="393405" y="1722474"/>
            <a:ext cx="11398102" cy="3149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1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Successful Implementation: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The project demonstrates that Machine Learning can effectively predict food consumption patterns with high accuracy in institutional settings.</a:t>
            </a:r>
          </a:p>
          <a:p>
            <a:pPr marL="285750" lvl="1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Economic &amp; Ecological Balance: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By optimizing preparation quantities, the system successfully reduces financial losses while minimizing environmental degradation caused by organic waste.</a:t>
            </a:r>
          </a:p>
          <a:p>
            <a:pPr marL="285750" lvl="1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Practical Decision Support: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The introduction of the "Safety Buffer" ensures that the AI's recommendations are realistic and adaptable to the high-stakes environment of a student canteen.</a:t>
            </a:r>
          </a:p>
          <a:p>
            <a:pPr marL="285750" lvl="1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Operational Efficiency: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The user-friendly dashboard empowers non-technical canteen staff to make informed, data-driven decisions daily.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Final Thought: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Eco-Feed AI represents a scalable solution that can be adopted by any college, hostel, or corporate office to promote a "Zero-Waste" culture.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7261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AD19869F-96B9-5203-AAF3-45AE6C4B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0D9D66-F842-8A54-E13C-54231FFCB3A9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Future Perspective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E4739-1283-30D2-E5F4-BC613BA64364}"/>
              </a:ext>
            </a:extLst>
          </p:cNvPr>
          <p:cNvSpPr txBox="1"/>
          <p:nvPr/>
        </p:nvSpPr>
        <p:spPr>
          <a:xfrm>
            <a:off x="3039035" y="-1360674"/>
            <a:ext cx="6099586" cy="66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18E022-F94D-4C96-DF15-CC4265280D72}"/>
              </a:ext>
            </a:extLst>
          </p:cNvPr>
          <p:cNvSpPr txBox="1"/>
          <p:nvPr/>
        </p:nvSpPr>
        <p:spPr>
          <a:xfrm>
            <a:off x="361507" y="1754372"/>
            <a:ext cx="11419367" cy="3827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Real-Time Data Integration:</a:t>
            </a:r>
            <a:r>
              <a:rPr lang="en-US" dirty="0"/>
              <a:t> Incorporating a </a:t>
            </a:r>
            <a:r>
              <a:rPr lang="en-US" b="1" dirty="0"/>
              <a:t>Weather API</a:t>
            </a:r>
            <a:r>
              <a:rPr lang="en-US" dirty="0"/>
              <a:t> to adjust predictions based on rain or extreme heat, which significantly affects canteen attendance.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Student Reservation System:</a:t>
            </a:r>
            <a:r>
              <a:rPr lang="en-US" dirty="0"/>
              <a:t> Developing a mobile app feature where students can "Opt-out" or "Confirm" their meals in advance to provide the AI with real-time ground truth.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Smart Inventory Management:</a:t>
            </a:r>
            <a:r>
              <a:rPr lang="en-US" dirty="0"/>
              <a:t> Linking the prediction system to a procurement module that automatically generates grocery orders based on the predicted food quantity.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Internet of Things (IoT) Integration:</a:t>
            </a:r>
            <a:r>
              <a:rPr lang="en-US" dirty="0"/>
              <a:t> Using smart scales in the waste bins to automatically update the </a:t>
            </a:r>
            <a:r>
              <a:rPr lang="en-US" dirty="0">
                <a:latin typeface="Courier New" panose="02070309020205020404" pitchFamily="49" charset="0"/>
              </a:rPr>
              <a:t>food_data.csv</a:t>
            </a:r>
            <a:r>
              <a:rPr lang="en-US" dirty="0"/>
              <a:t> with actual waste data at the end of every meal.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Automated Donation Alerts:</a:t>
            </a:r>
            <a:r>
              <a:rPr lang="en-US" dirty="0"/>
              <a:t> Building a direct communication bridge to local </a:t>
            </a:r>
            <a:r>
              <a:rPr lang="en-US" b="1" dirty="0"/>
              <a:t>NGOs and Food Banks</a:t>
            </a:r>
            <a:r>
              <a:rPr lang="en-US" dirty="0"/>
              <a:t>, sending automated SMS/Email alerts when the system predicts a surplus.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Multi-Campus Scalability:</a:t>
            </a:r>
            <a:r>
              <a:rPr lang="en-US" dirty="0"/>
              <a:t> Expanding the model to handle multiple canteen locations within a single institution from a centralized cloud dashboard.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9288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F0043-CA6C-E8BE-C500-58DF7AD4A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1;g5fab984687_2_0">
            <a:extLst>
              <a:ext uri="{FF2B5EF4-FFF2-40B4-BE49-F238E27FC236}">
                <a16:creationId xmlns:a16="http://schemas.microsoft.com/office/drawing/2014/main" id="{4DC7B192-5E72-4EB3-30AF-6D473E03BE36}"/>
              </a:ext>
            </a:extLst>
          </p:cNvPr>
          <p:cNvSpPr txBox="1">
            <a:spLocks/>
          </p:cNvSpPr>
          <p:nvPr/>
        </p:nvSpPr>
        <p:spPr>
          <a:xfrm>
            <a:off x="4315206" y="2934286"/>
            <a:ext cx="3561588" cy="987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800"/>
            </a:pPr>
            <a:endParaRPr lang="en-US" sz="5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891580-4C2D-C23D-EF44-BBE218897246}"/>
              </a:ext>
            </a:extLst>
          </p:cNvPr>
          <p:cNvSpPr txBox="1"/>
          <p:nvPr/>
        </p:nvSpPr>
        <p:spPr>
          <a:xfrm>
            <a:off x="558800" y="1422400"/>
            <a:ext cx="11216640" cy="21035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Google Drive Link: </a:t>
            </a:r>
            <a:r>
              <a:rPr lang="en-IN" dirty="0">
                <a:hlinkClick r:id="rId3"/>
              </a:rPr>
              <a:t>https://drive.google.com/drive/folders/1y_L_MQaYD0TOKkmk2kSfs03j7Lj75kIz?usp=sharing</a:t>
            </a:r>
            <a:endParaRPr lang="en-I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 err="1"/>
              <a:t>github</a:t>
            </a:r>
            <a:r>
              <a:rPr lang="en-IN" dirty="0"/>
              <a:t> link: </a:t>
            </a:r>
            <a:r>
              <a:rPr lang="en-IN" dirty="0">
                <a:hlinkClick r:id="rId4"/>
              </a:rPr>
              <a:t>https://github.com/KumarDhobale/food_waste_prediction_system</a:t>
            </a:r>
            <a:endParaRPr lang="en-I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Project live link: </a:t>
            </a:r>
            <a:r>
              <a:rPr lang="en-IN" dirty="0">
                <a:hlinkClick r:id="rId5"/>
              </a:rPr>
              <a:t>https://foodwastepredictionsystem-2i4fd6jmvau8kfo8ogprw5.streamlit.app</a:t>
            </a:r>
            <a:endParaRPr lang="en-I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4430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1;g5fab984687_2_0">
            <a:extLst>
              <a:ext uri="{FF2B5EF4-FFF2-40B4-BE49-F238E27FC236}">
                <a16:creationId xmlns:a16="http://schemas.microsoft.com/office/drawing/2014/main" id="{0C30A77F-BE9B-73CB-CC7F-A1F8B5B87AB9}"/>
              </a:ext>
            </a:extLst>
          </p:cNvPr>
          <p:cNvSpPr txBox="1">
            <a:spLocks/>
          </p:cNvSpPr>
          <p:nvPr/>
        </p:nvSpPr>
        <p:spPr>
          <a:xfrm>
            <a:off x="4315206" y="2934286"/>
            <a:ext cx="3561588" cy="987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800"/>
            </a:pPr>
            <a:r>
              <a:rPr lang="en-US" sz="5000" b="1">
                <a:solidFill>
                  <a:srgbClr val="213163"/>
                </a:solidFill>
              </a:rPr>
              <a:t>Thank You</a:t>
            </a:r>
            <a:endParaRPr lang="en-US" sz="5000"/>
          </a:p>
        </p:txBody>
      </p:sp>
    </p:spTree>
    <p:extLst>
      <p:ext uri="{BB962C8B-B14F-4D97-AF65-F5344CB8AC3E}">
        <p14:creationId xmlns:p14="http://schemas.microsoft.com/office/powerpoint/2010/main" val="35443651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5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5" ma:contentTypeDescription="Create a new document." ma:contentTypeScope="" ma:versionID="7670618c03e54fbae4a17ecb2d0ed10f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3d63de1c5a217044e31e0c8b260d3d71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162bd5b-4ed9-4da3-b376-05204580ba3f" xsi:nil="true"/>
  </documentManagement>
</p:properties>
</file>

<file path=customXml/itemProps1.xml><?xml version="1.0" encoding="utf-8"?>
<ds:datastoreItem xmlns:ds="http://schemas.openxmlformats.org/officeDocument/2006/customXml" ds:itemID="{7D9E5D5E-A365-4A49-8140-C8CC82A61608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706AB80-2608-47D7-8AC8-FA6BC8A9B2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6559A34-456E-49A1-8157-9E3D18BFAD36}">
  <ds:schemaRefs>
    <ds:schemaRef ds:uri="9162bd5b-4ed9-4da3-b376-05204580ba3f"/>
    <ds:schemaRef ds:uri="c0fa2617-96bd-425d-8578-e93563fe37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Words>1411</Words>
  <Application>Microsoft Office PowerPoint</Application>
  <PresentationFormat>Widescreen</PresentationFormat>
  <Paragraphs>89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Arial Unicode MS</vt:lpstr>
      <vt:lpstr>Courier New</vt:lpstr>
      <vt:lpstr>Google Sans Text</vt:lpstr>
      <vt:lpstr>Times New Roman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 Moinudeen Syed</dc:creator>
  <cp:lastModifiedBy>Kumar Dhobale</cp:lastModifiedBy>
  <cp:revision>9</cp:revision>
  <dcterms:modified xsi:type="dcterms:W3CDTF">2026-01-14T09:23:29Z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  <property fmtid="{D5CDD505-2E9C-101B-9397-08002B2CF9AE}" pid="3" name="ArticulateGUID">
    <vt:lpwstr>9933309E-0FFA-4A0C-99DC-6F95618B9D68</vt:lpwstr>
  </property>
  <property fmtid="{D5CDD505-2E9C-101B-9397-08002B2CF9AE}" pid="4" name="ArticulatePath">
    <vt:lpwstr>https://edunetfoundationorg-my.sharepoint.com/personal/kaisar_edunetfoundation_org/Documents/Beutified ppt/Microsoft Shell/Skills4Future/Temp</vt:lpwstr>
  </property>
</Properties>
</file>